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b582d1d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b582d1d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b582d1d2d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b582d1d2d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b582d1d2d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b582d1d2d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b582d1d2d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b582d1d2d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b582d1d2d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b582d1d2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b582d1d2d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b582d1d2d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b582d1d2d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b582d1d2d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b582d1d2d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b582d1d2d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b582d1d2d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b582d1d2d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b582d1d2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b582d1d2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Timeline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365" name="Google Shape;365;p47"/>
          <p:cNvSpPr txBox="1"/>
          <p:nvPr>
            <p:ph idx="4" type="title"/>
          </p:nvPr>
        </p:nvSpPr>
        <p:spPr>
          <a:xfrm>
            <a:off x="288625" y="4778975"/>
            <a:ext cx="49407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By: Michael Calle &amp; Eric Liu</a:t>
            </a:r>
            <a:endParaRPr sz="800"/>
          </a:p>
        </p:txBody>
      </p:sp>
      <p:cxnSp>
        <p:nvCxnSpPr>
          <p:cNvPr id="366" name="Google Shape;366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/>
          <p:nvPr/>
        </p:nvSpPr>
        <p:spPr>
          <a:xfrm>
            <a:off x="2456700" y="286800"/>
            <a:ext cx="1515000" cy="170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4084975" y="286800"/>
            <a:ext cx="1515000" cy="170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5713225" y="286800"/>
            <a:ext cx="1515000" cy="170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2457150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4085188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48"/>
          <p:cNvSpPr/>
          <p:nvPr/>
        </p:nvSpPr>
        <p:spPr>
          <a:xfrm>
            <a:off x="5713675" y="1989875"/>
            <a:ext cx="1515000" cy="269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7" name="Google Shape;377;p48"/>
          <p:cNvCxnSpPr/>
          <p:nvPr/>
        </p:nvCxnSpPr>
        <p:spPr>
          <a:xfrm>
            <a:off x="2635350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8"/>
          <p:cNvCxnSpPr/>
          <p:nvPr/>
        </p:nvCxnSpPr>
        <p:spPr>
          <a:xfrm>
            <a:off x="2635350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8"/>
          <p:cNvCxnSpPr/>
          <p:nvPr/>
        </p:nvCxnSpPr>
        <p:spPr>
          <a:xfrm>
            <a:off x="4263388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8"/>
          <p:cNvCxnSpPr/>
          <p:nvPr/>
        </p:nvCxnSpPr>
        <p:spPr>
          <a:xfrm>
            <a:off x="4263388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48"/>
          <p:cNvCxnSpPr/>
          <p:nvPr/>
        </p:nvCxnSpPr>
        <p:spPr>
          <a:xfrm>
            <a:off x="5891875" y="2713725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8"/>
          <p:cNvCxnSpPr/>
          <p:nvPr/>
        </p:nvCxnSpPr>
        <p:spPr>
          <a:xfrm>
            <a:off x="5891875" y="4524150"/>
            <a:ext cx="118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48"/>
          <p:cNvSpPr txBox="1"/>
          <p:nvPr>
            <p:ph idx="21" type="title"/>
          </p:nvPr>
        </p:nvSpPr>
        <p:spPr>
          <a:xfrm>
            <a:off x="283850" y="285900"/>
            <a:ext cx="2173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  <p:sp>
        <p:nvSpPr>
          <p:cNvPr id="385" name="Google Shape;385;p48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Danger</a:t>
            </a:r>
            <a:endParaRPr/>
          </a:p>
        </p:txBody>
      </p:sp>
      <p:sp>
        <p:nvSpPr>
          <p:cNvPr id="386" name="Google Shape;386;p48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Roads turn deadly mid-operation, bombed, blocked, or overrun. Static paper maps cannot adapt in real time.</a:t>
            </a:r>
            <a:endParaRPr/>
          </a:p>
        </p:txBody>
      </p:sp>
      <p:sp>
        <p:nvSpPr>
          <p:cNvPr id="387" name="Google Shape;387;p48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Limited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8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zones overflow. A convoy of 500 cannot all go to the same camp. Routing must account for available slots.</a:t>
            </a:r>
            <a:endParaRPr/>
          </a:p>
        </p:txBody>
      </p:sp>
      <p:sp>
        <p:nvSpPr>
          <p:cNvPr id="389" name="Google Shape;389;p48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vs Safety</a:t>
            </a:r>
            <a:endParaRPr/>
          </a:p>
        </p:txBody>
      </p:sp>
      <p:sp>
        <p:nvSpPr>
          <p:cNvPr id="390" name="Google Shape;390;p48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fastest route is rarely the safest. Coordinators must balance urgency with danger exposure, a human trade-off encoded in math.</a:t>
            </a:r>
            <a:endParaRPr/>
          </a:p>
        </p:txBody>
      </p:sp>
      <p:sp>
        <p:nvSpPr>
          <p:cNvPr id="391" name="Google Shape;391;p48"/>
          <p:cNvSpPr txBox="1"/>
          <p:nvPr/>
        </p:nvSpPr>
        <p:spPr>
          <a:xfrm>
            <a:off x="209400" y="1304925"/>
            <a:ext cx="21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Evacuating civilians is harder than it looks</a:t>
            </a:r>
            <a:endParaRPr/>
          </a:p>
        </p:txBody>
      </p:sp>
      <p:sp>
        <p:nvSpPr>
          <p:cNvPr id="392" name="Google Shape;392;p48"/>
          <p:cNvSpPr/>
          <p:nvPr/>
        </p:nvSpPr>
        <p:spPr>
          <a:xfrm>
            <a:off x="2597273" y="493945"/>
            <a:ext cx="1236300" cy="12363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176550" lIns="176550" spcFirstLastPara="1" rIns="176550" wrap="square" tIns="17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840" y="635199"/>
            <a:ext cx="882835" cy="8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/>
          <p:nvPr/>
        </p:nvSpPr>
        <p:spPr>
          <a:xfrm>
            <a:off x="4223325" y="493950"/>
            <a:ext cx="1236300" cy="12363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176575" lIns="176575" spcFirstLastPara="1" rIns="176575" wrap="square" tIns="17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9917" y="644748"/>
            <a:ext cx="882957" cy="88295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8"/>
          <p:cNvSpPr/>
          <p:nvPr/>
        </p:nvSpPr>
        <p:spPr>
          <a:xfrm>
            <a:off x="5851368" y="493945"/>
            <a:ext cx="1236300" cy="1236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176550" lIns="176550" spcFirstLastPara="1" rIns="176550" wrap="square" tIns="17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7474" y="663785"/>
            <a:ext cx="882906" cy="88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403" name="Google Shape;403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49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5" name="Google Shape;405;p4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9"/>
          <p:cNvSpPr/>
          <p:nvPr/>
        </p:nvSpPr>
        <p:spPr>
          <a:xfrm>
            <a:off x="284050" y="2462675"/>
            <a:ext cx="4229700" cy="223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49"/>
          <p:cNvSpPr/>
          <p:nvPr/>
        </p:nvSpPr>
        <p:spPr>
          <a:xfrm>
            <a:off x="284050" y="2293775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49"/>
          <p:cNvSpPr txBox="1"/>
          <p:nvPr>
            <p:ph idx="1" type="body"/>
          </p:nvPr>
        </p:nvSpPr>
        <p:spPr>
          <a:xfrm>
            <a:off x="283850" y="2502125"/>
            <a:ext cx="4227300" cy="20487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Models a road network as a weighted directed graph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Computes optimal evacuation routes via Dijkstra's algorithm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Checks reachability of all safe zones using BFS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Handles capacity limits: redirects when zones fill up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Supports 3 mobility types with different speed penalties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Adapts dynamically to road closures and danger updates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49"/>
          <p:cNvSpPr/>
          <p:nvPr/>
        </p:nvSpPr>
        <p:spPr>
          <a:xfrm>
            <a:off x="284040" y="187411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Dijkstra's Algorithm</a:t>
            </a:r>
            <a:endParaRPr b="1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9"/>
          <p:cNvSpPr/>
          <p:nvPr/>
        </p:nvSpPr>
        <p:spPr>
          <a:xfrm>
            <a:off x="4629950" y="2443613"/>
            <a:ext cx="4229700" cy="223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49"/>
          <p:cNvSpPr/>
          <p:nvPr/>
        </p:nvSpPr>
        <p:spPr>
          <a:xfrm>
            <a:off x="4629950" y="2274713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49"/>
          <p:cNvSpPr txBox="1"/>
          <p:nvPr>
            <p:ph idx="1" type="body"/>
          </p:nvPr>
        </p:nvSpPr>
        <p:spPr>
          <a:xfrm>
            <a:off x="4629750" y="2521175"/>
            <a:ext cx="4304700" cy="20487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>
                <a:solidFill>
                  <a:schemeClr val="dk1"/>
                </a:solidFill>
              </a:rPr>
              <a:t>Web UI  /  CLI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>
                <a:solidFill>
                  <a:schemeClr val="dk1"/>
                </a:solidFill>
              </a:rPr>
              <a:t>EvacuationPlanner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>
                <a:solidFill>
                  <a:schemeClr val="dk1"/>
                </a:solidFill>
              </a:rPr>
              <a:t>algorithms.py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>
                <a:solidFill>
                  <a:schemeClr val="dk1"/>
                </a:solidFill>
              </a:rPr>
              <a:t>EvacuationGraph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>
                <a:solidFill>
                  <a:schemeClr val="dk1"/>
                </a:solidFill>
              </a:rPr>
              <a:t>Models  +  Constants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dependency flow ↑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4629940" y="185505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Layered Architecture</a:t>
            </a:r>
            <a:endParaRPr b="1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50"/>
          <p:cNvSpPr txBox="1"/>
          <p:nvPr/>
        </p:nvSpPr>
        <p:spPr>
          <a:xfrm>
            <a:off x="284850" y="1593175"/>
            <a:ext cx="3494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CIVILIAN: Source locations, villages, and towns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50"/>
          <p:cNvSpPr txBox="1"/>
          <p:nvPr/>
        </p:nvSpPr>
        <p:spPr>
          <a:xfrm>
            <a:off x="284850" y="1146000"/>
            <a:ext cx="3494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Node Types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50"/>
          <p:cNvSpPr txBox="1"/>
          <p:nvPr/>
        </p:nvSpPr>
        <p:spPr>
          <a:xfrm>
            <a:off x="4629750" y="1146000"/>
            <a:ext cx="2079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(Road) Attributes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50"/>
          <p:cNvSpPr txBox="1"/>
          <p:nvPr/>
        </p:nvSpPr>
        <p:spPr>
          <a:xfrm>
            <a:off x="284850" y="2263751"/>
            <a:ext cx="3494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SAFE_ZONE: Destinations with capacity limits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50"/>
          <p:cNvSpPr txBox="1"/>
          <p:nvPr/>
        </p:nvSpPr>
        <p:spPr>
          <a:xfrm>
            <a:off x="284850" y="2933900"/>
            <a:ext cx="3494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CHECKPOINT: Intermediate routing nodes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50"/>
          <p:cNvSpPr txBox="1"/>
          <p:nvPr/>
        </p:nvSpPr>
        <p:spPr>
          <a:xfrm>
            <a:off x="284850" y="3604025"/>
            <a:ext cx="3494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MEDICAL: Field stations for injured routing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4629750" y="1593175"/>
            <a:ext cx="1326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distance_km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50"/>
          <p:cNvSpPr txBox="1"/>
          <p:nvPr/>
        </p:nvSpPr>
        <p:spPr>
          <a:xfrm>
            <a:off x="4629750" y="2263676"/>
            <a:ext cx="1326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base_speed_kmh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50"/>
          <p:cNvSpPr txBox="1"/>
          <p:nvPr/>
        </p:nvSpPr>
        <p:spPr>
          <a:xfrm>
            <a:off x="4629750" y="2933818"/>
            <a:ext cx="1326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50"/>
          <p:cNvSpPr txBox="1"/>
          <p:nvPr/>
        </p:nvSpPr>
        <p:spPr>
          <a:xfrm>
            <a:off x="4629750" y="3604050"/>
            <a:ext cx="132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danger_score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50"/>
          <p:cNvSpPr txBox="1"/>
          <p:nvPr/>
        </p:nvSpPr>
        <p:spPr>
          <a:xfrm>
            <a:off x="6086100" y="1593175"/>
            <a:ext cx="27708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Physical length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50"/>
          <p:cNvSpPr txBox="1"/>
          <p:nvPr/>
        </p:nvSpPr>
        <p:spPr>
          <a:xfrm>
            <a:off x="6086100" y="2263676"/>
            <a:ext cx="2770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Road speed limit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6086100" y="2933818"/>
            <a:ext cx="27708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CLEAR / DAMAGED / BLOCKED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50"/>
          <p:cNvSpPr txBox="1"/>
          <p:nvPr/>
        </p:nvSpPr>
        <p:spPr>
          <a:xfrm>
            <a:off x="6086100" y="3604050"/>
            <a:ext cx="2770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0.0 – 10.0 risk rating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35" name="Google Shape;435;p50"/>
          <p:cNvCxnSpPr/>
          <p:nvPr/>
        </p:nvCxnSpPr>
        <p:spPr>
          <a:xfrm>
            <a:off x="-2400" y="1593625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0"/>
          <p:cNvCxnSpPr/>
          <p:nvPr/>
        </p:nvCxnSpPr>
        <p:spPr>
          <a:xfrm>
            <a:off x="-2400" y="2263758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0"/>
          <p:cNvCxnSpPr/>
          <p:nvPr/>
        </p:nvCxnSpPr>
        <p:spPr>
          <a:xfrm>
            <a:off x="-2400" y="2933892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50"/>
          <p:cNvCxnSpPr/>
          <p:nvPr/>
        </p:nvCxnSpPr>
        <p:spPr>
          <a:xfrm>
            <a:off x="-2400" y="3604025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0"/>
          <p:cNvCxnSpPr/>
          <p:nvPr/>
        </p:nvCxnSpPr>
        <p:spPr>
          <a:xfrm>
            <a:off x="-2400" y="4274150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0"/>
          <p:cNvCxnSpPr/>
          <p:nvPr/>
        </p:nvCxnSpPr>
        <p:spPr>
          <a:xfrm>
            <a:off x="-2400" y="1145550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50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cxnSp>
        <p:nvCxnSpPr>
          <p:cNvPr id="442" name="Google Shape;442;p50"/>
          <p:cNvCxnSpPr/>
          <p:nvPr/>
        </p:nvCxnSpPr>
        <p:spPr>
          <a:xfrm>
            <a:off x="-2400" y="4956575"/>
            <a:ext cx="914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50"/>
          <p:cNvSpPr txBox="1"/>
          <p:nvPr/>
        </p:nvSpPr>
        <p:spPr>
          <a:xfrm>
            <a:off x="4629750" y="4318588"/>
            <a:ext cx="132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bidirectional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50"/>
          <p:cNvSpPr txBox="1"/>
          <p:nvPr/>
        </p:nvSpPr>
        <p:spPr>
          <a:xfrm>
            <a:off x="6086100" y="4318588"/>
            <a:ext cx="2770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Two-way by default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"/>
          <p:cNvSpPr txBox="1"/>
          <p:nvPr>
            <p:ph type="title"/>
          </p:nvPr>
        </p:nvSpPr>
        <p:spPr>
          <a:xfrm>
            <a:off x="284850" y="474875"/>
            <a:ext cx="4620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Algorithms</a:t>
            </a:r>
            <a:endParaRPr/>
          </a:p>
        </p:txBody>
      </p:sp>
      <p:sp>
        <p:nvSpPr>
          <p:cNvPr id="450" name="Google Shape;450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1" name="Google Shape;451;p51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1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1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51"/>
          <p:cNvSpPr/>
          <p:nvPr/>
        </p:nvSpPr>
        <p:spPr>
          <a:xfrm>
            <a:off x="284050" y="2462675"/>
            <a:ext cx="4229700" cy="223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51"/>
          <p:cNvSpPr/>
          <p:nvPr/>
        </p:nvSpPr>
        <p:spPr>
          <a:xfrm>
            <a:off x="284050" y="2293775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51"/>
          <p:cNvSpPr txBox="1"/>
          <p:nvPr>
            <p:ph idx="1" type="body"/>
          </p:nvPr>
        </p:nvSpPr>
        <p:spPr>
          <a:xfrm>
            <a:off x="283850" y="2540225"/>
            <a:ext cx="4227300" cy="20487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Purpose: Finds minimum composite-cost path to a safe zone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How: Min-heap priority queue. Each pop relaxes neighbours. Skips BLOCKED roads and danger &gt; threshold.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Complexity: O((V + E) log V)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Returns: route · distance · time · max danger · avg danger · composite cost · warnings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Variants:  dijkstra()  |  dijkstra_all_safe_zones()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7" name="Google Shape;457;p51"/>
          <p:cNvSpPr/>
          <p:nvPr/>
        </p:nvSpPr>
        <p:spPr>
          <a:xfrm>
            <a:off x="284040" y="187411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Dijkstra's Algorithm</a:t>
            </a:r>
            <a:endParaRPr b="1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1"/>
          <p:cNvSpPr/>
          <p:nvPr/>
        </p:nvSpPr>
        <p:spPr>
          <a:xfrm>
            <a:off x="4629950" y="2443613"/>
            <a:ext cx="4229700" cy="223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51"/>
          <p:cNvSpPr/>
          <p:nvPr/>
        </p:nvSpPr>
        <p:spPr>
          <a:xfrm>
            <a:off x="4629950" y="2274713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51"/>
          <p:cNvSpPr txBox="1"/>
          <p:nvPr>
            <p:ph idx="1" type="body"/>
          </p:nvPr>
        </p:nvSpPr>
        <p:spPr>
          <a:xfrm>
            <a:off x="4629750" y="2521175"/>
            <a:ext cx="4304700" cy="20487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Purpose: Structural reachability — which safe zones can we reach at all?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How: Queue-based level-order traversal. Ignores cost, only follows active edges.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Complexity: O(V + E)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Returns: reachable node set · reachable safe zones · cut-off safe zones · hop counts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Variants:  bfs_reachability()  | bfs_nearest_safe_zone()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p51"/>
          <p:cNvSpPr/>
          <p:nvPr/>
        </p:nvSpPr>
        <p:spPr>
          <a:xfrm>
            <a:off x="4629940" y="185505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Dijkstra's Algorithm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52"/>
          <p:cNvSpPr txBox="1"/>
          <p:nvPr>
            <p:ph type="title"/>
          </p:nvPr>
        </p:nvSpPr>
        <p:spPr>
          <a:xfrm>
            <a:off x="283850" y="285900"/>
            <a:ext cx="4227300" cy="2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4-Tier Cascading Fallback Strategy</a:t>
            </a:r>
            <a:endParaRPr/>
          </a:p>
        </p:txBody>
      </p:sp>
      <p:sp>
        <p:nvSpPr>
          <p:cNvPr id="468" name="Google Shape;468;p52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BFS Reachability Check</a:t>
            </a:r>
            <a:endParaRPr sz="1800"/>
          </a:p>
        </p:txBody>
      </p:sp>
      <p:sp>
        <p:nvSpPr>
          <p:cNvPr id="469" name="Google Shape;469;p52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Dijkstra: Safety Constrained</a:t>
            </a:r>
            <a:endParaRPr sz="1800"/>
          </a:p>
        </p:txBody>
      </p:sp>
      <p:sp>
        <p:nvSpPr>
          <p:cNvPr id="470" name="Google Shape;470;p52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Dijkstra: Danger Relaxed</a:t>
            </a:r>
            <a:endParaRPr/>
          </a:p>
        </p:txBody>
      </p:sp>
      <p:sp>
        <p:nvSpPr>
          <p:cNvPr id="471" name="Google Shape;471;p52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BFS Nearest Zone Fallback</a:t>
            </a:r>
            <a:endParaRPr/>
          </a:p>
        </p:txBody>
      </p:sp>
      <p:cxnSp>
        <p:nvCxnSpPr>
          <p:cNvPr id="472" name="Google Shape;472;p52"/>
          <p:cNvCxnSpPr/>
          <p:nvPr/>
        </p:nvCxnSpPr>
        <p:spPr>
          <a:xfrm>
            <a:off x="283839" y="2634200"/>
            <a:ext cx="8575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52"/>
          <p:cNvSpPr/>
          <p:nvPr/>
        </p:nvSpPr>
        <p:spPr>
          <a:xfrm>
            <a:off x="2482970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52"/>
          <p:cNvSpPr/>
          <p:nvPr/>
        </p:nvSpPr>
        <p:spPr>
          <a:xfrm>
            <a:off x="269320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52"/>
          <p:cNvSpPr/>
          <p:nvPr/>
        </p:nvSpPr>
        <p:spPr>
          <a:xfrm>
            <a:off x="4682107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52"/>
          <p:cNvSpPr/>
          <p:nvPr/>
        </p:nvSpPr>
        <p:spPr>
          <a:xfrm>
            <a:off x="6877475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52"/>
          <p:cNvSpPr/>
          <p:nvPr/>
        </p:nvSpPr>
        <p:spPr>
          <a:xfrm>
            <a:off x="8787307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52"/>
          <p:cNvSpPr txBox="1"/>
          <p:nvPr/>
        </p:nvSpPr>
        <p:spPr>
          <a:xfrm>
            <a:off x="288625" y="2891825"/>
            <a:ext cx="205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 BFS from source.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zero safe zones are reachable, abort immediately with a CRITICAL alert.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route can be planned in a fully surrounded location.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52"/>
          <p:cNvSpPr txBox="1"/>
          <p:nvPr/>
        </p:nvSpPr>
        <p:spPr>
          <a:xfrm>
            <a:off x="2456700" y="289182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 Dijkstra excluding roads with danger &gt; 7.0.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target is at capacity, try all safe zones sorted by cost and pick the first available.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4629375" y="289182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no safe route exists, remove the danger threshold and retry.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Route is returned with a warning: 'Danger threshold relaxed, elevated risk.'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6802050" y="289182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all Dijkstra attempts fail, report the BFS-nearest safe zone by hop count.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assessment required, no costed path available.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82" name="Google Shape;482;p52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53"/>
          <p:cNvCxnSpPr/>
          <p:nvPr/>
        </p:nvCxnSpPr>
        <p:spPr>
          <a:xfrm rot="10800000">
            <a:off x="-50" y="46826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53"/>
          <p:cNvSpPr/>
          <p:nvPr/>
        </p:nvSpPr>
        <p:spPr>
          <a:xfrm>
            <a:off x="284850" y="15555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53"/>
          <p:cNvSpPr/>
          <p:nvPr/>
        </p:nvSpPr>
        <p:spPr>
          <a:xfrm>
            <a:off x="284850" y="26362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53"/>
          <p:cNvSpPr/>
          <p:nvPr/>
        </p:nvSpPr>
        <p:spPr>
          <a:xfrm>
            <a:off x="284850" y="3716975"/>
            <a:ext cx="1005000" cy="9657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91" name="Google Shape;491;p53"/>
          <p:cNvCxnSpPr/>
          <p:nvPr/>
        </p:nvCxnSpPr>
        <p:spPr>
          <a:xfrm rot="10800000">
            <a:off x="-50" y="15520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3"/>
          <p:cNvCxnSpPr/>
          <p:nvPr/>
        </p:nvCxnSpPr>
        <p:spPr>
          <a:xfrm rot="10800000">
            <a:off x="-50" y="26362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53"/>
          <p:cNvCxnSpPr/>
          <p:nvPr/>
        </p:nvCxnSpPr>
        <p:spPr>
          <a:xfrm rot="10800000">
            <a:off x="-50" y="3716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53"/>
          <p:cNvCxnSpPr/>
          <p:nvPr/>
        </p:nvCxnSpPr>
        <p:spPr>
          <a:xfrm rot="10800000">
            <a:off x="-50" y="36065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53"/>
          <p:cNvCxnSpPr/>
          <p:nvPr/>
        </p:nvCxnSpPr>
        <p:spPr>
          <a:xfrm rot="10800000">
            <a:off x="-50" y="25258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3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x</a:t>
            </a: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7" name="Google Shape;497;p53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x3.5</a:t>
            </a:r>
            <a:endParaRPr/>
          </a:p>
        </p:txBody>
      </p:sp>
      <p:sp>
        <p:nvSpPr>
          <p:cNvPr id="498" name="Google Shape;498;p53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x8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9" name="Google Shape;499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53"/>
          <p:cNvSpPr txBox="1"/>
          <p:nvPr>
            <p:ph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</a:t>
            </a:r>
            <a:r>
              <a:rPr lang="en"/>
              <a:t>lessons</a:t>
            </a:r>
            <a:r>
              <a:rPr lang="en"/>
              <a:t> from similar projects</a:t>
            </a:r>
            <a:endParaRPr/>
          </a:p>
        </p:txBody>
      </p:sp>
      <p:sp>
        <p:nvSpPr>
          <p:cNvPr id="501" name="Google Shape;501;p53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Vehicle convoys: no speed penalty. Fastest evacuation option. Best for large groups on intact roads. Ex. 13 min</a:t>
            </a:r>
            <a:endParaRPr/>
          </a:p>
        </p:txBody>
      </p:sp>
      <p:sp>
        <p:nvSpPr>
          <p:cNvPr id="502" name="Google Shape;502;p53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Civilian pedestrians: speed divided by 3.5. Same 12 km route takes 36 min vs 13 min by vehicle. Ex. 36 min</a:t>
            </a:r>
            <a:endParaRPr/>
          </a:p>
        </p:txBody>
      </p:sp>
      <p:sp>
        <p:nvSpPr>
          <p:cNvPr id="503" name="Google Shape;503;p53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Stretcher or assisted movement: speed divided by 8.0. Mass evacuation planner prioritises this group first. Ex. 82 min</a:t>
            </a:r>
            <a:endParaRPr/>
          </a:p>
        </p:txBody>
      </p:sp>
      <p:sp>
        <p:nvSpPr>
          <p:cNvPr id="504" name="Google Shape;504;p53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ON_FOOT</a:t>
            </a:r>
            <a:endParaRPr/>
          </a:p>
        </p:txBody>
      </p:sp>
      <p:sp>
        <p:nvSpPr>
          <p:cNvPr id="505" name="Google Shape;505;p53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</a:t>
            </a:r>
            <a:endParaRPr/>
          </a:p>
        </p:txBody>
      </p:sp>
      <p:sp>
        <p:nvSpPr>
          <p:cNvPr id="506" name="Google Shape;506;p53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INJURED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4"/>
          <p:cNvSpPr txBox="1"/>
          <p:nvPr>
            <p:ph type="title"/>
          </p:nvPr>
        </p:nvSpPr>
        <p:spPr>
          <a:xfrm>
            <a:off x="283850" y="285900"/>
            <a:ext cx="4227300" cy="2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Scenario Execution Results</a:t>
            </a:r>
            <a:endParaRPr/>
          </a:p>
        </p:txBody>
      </p:sp>
      <p:sp>
        <p:nvSpPr>
          <p:cNvPr id="513" name="Google Shape;513;p54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Scene</a:t>
            </a:r>
            <a:r>
              <a:rPr lang="en">
                <a:solidFill>
                  <a:schemeClr val="accent1"/>
                </a:solidFill>
              </a:rPr>
              <a:t> 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14" name="Google Shape;514;p54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Scene</a:t>
            </a:r>
            <a:r>
              <a:rPr lang="en">
                <a:solidFill>
                  <a:schemeClr val="accent1"/>
                </a:solidFill>
              </a:rPr>
              <a:t> 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15" name="Google Shape;515;p54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Scene</a:t>
            </a:r>
            <a:r>
              <a:rPr lang="en">
                <a:solidFill>
                  <a:schemeClr val="accent1"/>
                </a:solidFill>
              </a:rPr>
              <a:t> 3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516" name="Google Shape;516;p54"/>
          <p:cNvCxnSpPr/>
          <p:nvPr/>
        </p:nvCxnSpPr>
        <p:spPr>
          <a:xfrm>
            <a:off x="283775" y="2634250"/>
            <a:ext cx="8574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54"/>
          <p:cNvSpPr/>
          <p:nvPr/>
        </p:nvSpPr>
        <p:spPr>
          <a:xfrm>
            <a:off x="2482970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54"/>
          <p:cNvSpPr/>
          <p:nvPr/>
        </p:nvSpPr>
        <p:spPr>
          <a:xfrm>
            <a:off x="269320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54"/>
          <p:cNvSpPr/>
          <p:nvPr/>
        </p:nvSpPr>
        <p:spPr>
          <a:xfrm>
            <a:off x="4682107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54"/>
          <p:cNvSpPr/>
          <p:nvPr/>
        </p:nvSpPr>
        <p:spPr>
          <a:xfrm>
            <a:off x="6877475" y="2598250"/>
            <a:ext cx="72000" cy="72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Google Shape;521;p54"/>
          <p:cNvSpPr txBox="1"/>
          <p:nvPr/>
        </p:nvSpPr>
        <p:spPr>
          <a:xfrm>
            <a:off x="288625" y="2891825"/>
            <a:ext cx="205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Vehicle · 80 pax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VILLAGE_A -&gt; CAMP_NORTH → UN_COMPOUND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13.0 km   ·   13 min   ·   Danger: 1.0 / 10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✓ Accepted: 80/80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2" name="Google Shape;522;p54"/>
          <p:cNvSpPr txBox="1"/>
          <p:nvPr/>
        </p:nvSpPr>
        <p:spPr>
          <a:xfrm>
            <a:off x="2456700" y="289182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 Foot · 200 pax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TOWN_CENTER → UN_COMPOUND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12.0 km   ·   36 min   ·   Danger: 3.0 / 10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✓ Accepted: 200/200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54"/>
          <p:cNvSpPr txBox="1"/>
          <p:nvPr/>
        </p:nvSpPr>
        <p:spPr>
          <a:xfrm>
            <a:off x="4629375" y="289182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BFS Reachability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VILLAGE_B, max 6 hops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 / 8 nodes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✓ 3/3 safe zones reachable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4" name="Google Shape;524;p54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54"/>
          <p:cNvSpPr txBox="1"/>
          <p:nvPr>
            <p:ph idx="8" type="subTitle"/>
          </p:nvPr>
        </p:nvSpPr>
        <p:spPr>
          <a:xfrm>
            <a:off x="6881225" y="193772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Scene 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26" name="Google Shape;526;p54"/>
          <p:cNvSpPr txBox="1"/>
          <p:nvPr/>
        </p:nvSpPr>
        <p:spPr>
          <a:xfrm>
            <a:off x="6881225" y="2906675"/>
            <a:ext cx="20508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Road Bombed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VILLAGE_A → CAMP_NORTH → UN_COMPOUND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13.0 km   ·   13 min   ·   Danger: 1.0 / 10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2372" lvl="0" marL="2377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→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✓ Re-routed automatically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5"/>
          <p:cNvSpPr/>
          <p:nvPr/>
        </p:nvSpPr>
        <p:spPr>
          <a:xfrm>
            <a:off x="4629750" y="2443725"/>
            <a:ext cx="4229700" cy="223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55"/>
          <p:cNvSpPr/>
          <p:nvPr/>
        </p:nvSpPr>
        <p:spPr>
          <a:xfrm>
            <a:off x="4629750" y="2274825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55"/>
          <p:cNvSpPr txBox="1"/>
          <p:nvPr>
            <p:ph type="title"/>
          </p:nvPr>
        </p:nvSpPr>
        <p:spPr>
          <a:xfrm>
            <a:off x="552450" y="581025"/>
            <a:ext cx="3959700" cy="10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Flask Web Interface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534" name="Google Shape;534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55"/>
          <p:cNvSpPr txBox="1"/>
          <p:nvPr>
            <p:ph idx="1" type="body"/>
          </p:nvPr>
        </p:nvSpPr>
        <p:spPr>
          <a:xfrm>
            <a:off x="4629550" y="2521275"/>
            <a:ext cx="4227300" cy="20487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Form-based source + mobility + group size input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prefer_safety toggle for risk threshold control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Displays route, distance, time, danger metrics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Shows warnings for damaged roads or relaxed danger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Reports BFS reachability alongside Dijkstra route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>
                <a:solidFill>
                  <a:schemeClr val="dk1"/>
                </a:solidFill>
              </a:rPr>
              <a:t>Built with Flask — lightweight, no JS frameworks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6" name="Google Shape;536;p55"/>
          <p:cNvSpPr/>
          <p:nvPr/>
        </p:nvSpPr>
        <p:spPr>
          <a:xfrm rot="5400000">
            <a:off x="3652710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7" name="Google Shape;537;p55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5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0" name="Google Shape;540;p55" title="2026-05-01_02h48_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" y="1751850"/>
            <a:ext cx="3269719" cy="292712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5"/>
          <p:cNvSpPr/>
          <p:nvPr/>
        </p:nvSpPr>
        <p:spPr>
          <a:xfrm>
            <a:off x="4629740" y="185516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Web App Capabilities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6"/>
          <p:cNvSpPr txBox="1"/>
          <p:nvPr/>
        </p:nvSpPr>
        <p:spPr>
          <a:xfrm>
            <a:off x="284700" y="1202450"/>
            <a:ext cx="27723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-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Graph represents the road network, while the nodes are locations, and edges are roads with composite cost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-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Dijkstra finds the optimal route. While BFS confirms reachability and provides fallback guidance.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-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With the 4-tier fallback, the system never fails silently — it degrades gracefully through four strategies before reporting a manual assessment need.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-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 Constraints, such as road destruction, safe zone capacity, mobility type, and danger thresholds are modelled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7" name="Google Shape;547;p56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56"/>
          <p:cNvSpPr txBox="1"/>
          <p:nvPr/>
        </p:nvSpPr>
        <p:spPr>
          <a:xfrm>
            <a:off x="284700" y="456375"/>
            <a:ext cx="27723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50" name="Google Shape;550;p56"/>
          <p:cNvCxnSpPr/>
          <p:nvPr/>
        </p:nvCxnSpPr>
        <p:spPr>
          <a:xfrm>
            <a:off x="283850" y="395120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56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5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